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0"/>
    <p:restoredTop sz="94610"/>
  </p:normalViewPr>
  <p:slideViewPr>
    <p:cSldViewPr snapToGrid="0" snapToObjects="1">
      <p:cViewPr>
        <p:scale>
          <a:sx n="155" d="100"/>
          <a:sy n="155" d="100"/>
        </p:scale>
        <p:origin x="26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79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4992624" y="1503274"/>
            <a:ext cx="123444" cy="133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19902" y="3571646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830775" y="1380744"/>
            <a:ext cx="2533802" cy="381305"/>
          </a:xfrm>
          <a:prstGeom prst="roundRect">
            <a:avLst>
              <a:gd name="adj" fmla="val 23980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6982" y="1466698"/>
            <a:ext cx="2189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479853" y="1996135"/>
            <a:ext cx="7639812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 환경에서의 DQN 알고리즘 비교 분석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3963010" y="4076395"/>
            <a:ext cx="4467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DQN, Double DQN, Dueling DQN의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191610" y="4476902"/>
            <a:ext cx="40105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차이점 및 학습 효율성 연구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066690" y="5477256"/>
            <a:ext cx="2238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발표자: [사용자 이름]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504688" y="6409944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11월 29일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90895" y="349301"/>
            <a:ext cx="609905" cy="6099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69357" y="5896051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[소속 또는 학교명]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517990" y="6427318"/>
            <a:ext cx="24825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Gymnasium LunarLander-v3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76402" y="4419295"/>
            <a:ext cx="2857500" cy="2857500"/>
          </a:xfrm>
          <a:prstGeom prst="ellipse">
            <a:avLst/>
          </a:prstGeom>
          <a:solidFill>
            <a:srgbClr val="3B82F6">
              <a:alpha val="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1014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905" y="6442862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60252" y="6442862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190549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181405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590702"/>
            <a:ext cx="304495" cy="3044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" y="4572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주제 및 연구 목표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072677" y="605333"/>
            <a:ext cx="26517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Optimization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9905" y="222656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9574" y="2327148"/>
            <a:ext cx="181051" cy="18105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9905" y="386974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718718" y="3969410"/>
            <a:ext cx="161849" cy="18105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60466" y="1495044"/>
            <a:ext cx="6029554" cy="4486046"/>
          </a:xfrm>
          <a:prstGeom prst="roundRect">
            <a:avLst>
              <a:gd name="adj" fmla="val 69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75020" y="2794406"/>
            <a:ext cx="5400446" cy="9144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5875020" y="226039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75604" y="2360066"/>
            <a:ext cx="181051" cy="1810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75020" y="3108046"/>
            <a:ext cx="539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계열 알고리즘 성능 비교 분석 기본 DQN vs. Double DQN vs. Dueling DQN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875020" y="3519526"/>
            <a:ext cx="5515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및 수렴 속도 평가 각 알고리즘이 목표 점수(200점)에 도달하는 에피소드 수 비교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875020" y="4159606"/>
            <a:ext cx="5515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 및 최종 성공률 검증 동일한 학습 스텝 내에서 더 높은 평균 보상을 얻는지 확인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875020" y="4799686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하이퍼파라미터 도출 Learning Rate, Batch Size 등의 영향 분석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43000" y="224576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181405" y="2769718"/>
            <a:ext cx="396483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환경에서 착륙선을 달 표면의 착륙 패드(깃발 사이)에 안전하고 부드럽게 착륙시키는 제어 문제를 해결합니다.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3888943"/>
            <a:ext cx="2086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기준 (Solved)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181405" y="4412894"/>
            <a:ext cx="40407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연속된 100개 에피소드에서 평균 보상 +200점 이상 획득 시 문제 해결로 간주합니다.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08115" y="2279599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목표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20656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8206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763049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763049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F172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24712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013" b="-1013"/>
          <a:stretch/>
        </p:blipFill>
        <p:spPr>
          <a:xfrm>
            <a:off x="609905" y="500177"/>
            <a:ext cx="304495" cy="2761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81305"/>
            <a:ext cx="3391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및 데이터셋 설명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8470087" y="512064"/>
            <a:ext cx="32406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Environment Dynamics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9905" y="1438351"/>
            <a:ext cx="4876495" cy="7505395"/>
          </a:xfrm>
          <a:prstGeom prst="roundRect">
            <a:avLst>
              <a:gd name="adj" fmla="val 5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" y="2133295"/>
            <a:ext cx="4248302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23544" y="16760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9556" y="1772107"/>
            <a:ext cx="152705" cy="152705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3544" y="2412187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1346" y="2371954"/>
            <a:ext cx="18790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상태 (Initial State)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2725" b="-2725"/>
          <a:stretch/>
        </p:blipFill>
        <p:spPr>
          <a:xfrm>
            <a:off x="923544" y="3848710"/>
            <a:ext cx="142646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808476"/>
            <a:ext cx="19357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조건 (Termination)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23544" y="4136746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923544" y="4136746"/>
            <a:ext cx="28346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1067105" y="4251046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성공: 착륙 패드(두 깃발 사이)에 안전하게 접지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23544" y="4715561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923544" y="4715561"/>
            <a:ext cx="28346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067105" y="4829861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실패: 달 표면에 충돌 (추락)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23544" y="5294376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923544" y="5294376"/>
            <a:ext cx="2834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67105" y="5408676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초과: 1000 스텝 초과 혹은 정지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862218" y="1438351"/>
            <a:ext cx="5724144" cy="7505395"/>
          </a:xfrm>
          <a:prstGeom prst="roundRect">
            <a:avLst>
              <a:gd name="adj" fmla="val 42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76772" y="2133295"/>
            <a:ext cx="5095951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6176772" y="16760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6252667" y="1772107"/>
            <a:ext cx="190195" cy="15270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176772" y="2386584"/>
            <a:ext cx="828446" cy="228600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079285" y="2371954"/>
            <a:ext cx="29644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공간 (Observation Space, 8차원)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176772" y="269930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00216" y="2785262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6176772" y="317936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00216" y="3265322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6176772" y="365942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300216" y="374446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0" name="Shape 33"/>
          <p:cNvSpPr/>
          <p:nvPr/>
        </p:nvSpPr>
        <p:spPr>
          <a:xfrm>
            <a:off x="6176772" y="413857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300216" y="422452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>
            <a:off x="6176772" y="461863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300216" y="470458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4" name="Shape 37"/>
          <p:cNvSpPr/>
          <p:nvPr/>
        </p:nvSpPr>
        <p:spPr>
          <a:xfrm>
            <a:off x="6176772" y="509869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300216" y="518464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6" name="Shape 39"/>
          <p:cNvSpPr/>
          <p:nvPr/>
        </p:nvSpPr>
        <p:spPr>
          <a:xfrm>
            <a:off x="6176772" y="557875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300216" y="5663794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8" name="Shape 41"/>
          <p:cNvSpPr/>
          <p:nvPr/>
        </p:nvSpPr>
        <p:spPr>
          <a:xfrm>
            <a:off x="6176772" y="6057900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6300216" y="6143854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6176772" y="7025335"/>
            <a:ext cx="629107" cy="228600"/>
          </a:xfrm>
          <a:prstGeom prst="roundRect">
            <a:avLst>
              <a:gd name="adj" fmla="val 66667"/>
            </a:avLst>
          </a:prstGeom>
          <a:solidFill>
            <a:srgbClr val="8B5CF6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877202" y="7010705"/>
            <a:ext cx="24981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공간 (Action Space, 4가지)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6176772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636715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714439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4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5918" y="7842809"/>
            <a:ext cx="228600" cy="228600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7477963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7937906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8015630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7971739" y="7842809"/>
            <a:ext cx="200254" cy="228600"/>
          </a:xfrm>
          <a:prstGeom prst="rect">
            <a:avLst/>
          </a:prstGeom>
        </p:spPr>
      </p:pic>
      <p:sp>
        <p:nvSpPr>
          <p:cNvPr id="60" name="Shape 51"/>
          <p:cNvSpPr/>
          <p:nvPr/>
        </p:nvSpPr>
        <p:spPr>
          <a:xfrm>
            <a:off x="8779154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9239098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9316822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9272930" y="7842809"/>
            <a:ext cx="200254" cy="22860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10081260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10541203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10618927" y="7496251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0574122" y="7842809"/>
            <a:ext cx="200254" cy="228600"/>
          </a:xfrm>
          <a:prstGeom prst="rect">
            <a:avLst/>
          </a:prstGeom>
        </p:spPr>
      </p:pic>
      <p:sp>
        <p:nvSpPr>
          <p:cNvPr id="68" name="Text 57"/>
          <p:cNvSpPr txBox="1"/>
          <p:nvPr/>
        </p:nvSpPr>
        <p:spPr>
          <a:xfrm>
            <a:off x="1380744" y="1687982"/>
            <a:ext cx="22558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역학 (Dynamics)</a:t>
            </a:r>
            <a:endParaRPr lang="en-US" sz="1600" dirty="0"/>
          </a:p>
        </p:txBody>
      </p:sp>
      <p:sp>
        <p:nvSpPr>
          <p:cNvPr id="69" name="Text 58"/>
          <p:cNvSpPr txBox="1"/>
          <p:nvPr/>
        </p:nvSpPr>
        <p:spPr>
          <a:xfrm>
            <a:off x="923544" y="2709367"/>
            <a:ext cx="436443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착륙선은 달 표면 상공 중앙 부근에서 생성됩니다. 초기 위치, 속도, 각도는 무작위로 결정되어 매 에피소드마다 다양한 상황을 학습합니다.</a:t>
            </a:r>
            <a:endParaRPr lang="en-US" sz="1300" dirty="0"/>
          </a:p>
        </p:txBody>
      </p:sp>
      <p:sp>
        <p:nvSpPr>
          <p:cNvPr id="70" name="Text 59"/>
          <p:cNvSpPr txBox="1"/>
          <p:nvPr/>
        </p:nvSpPr>
        <p:spPr>
          <a:xfrm>
            <a:off x="6633972" y="1687982"/>
            <a:ext cx="19897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인터페이스</a:t>
            </a:r>
            <a:endParaRPr lang="en-US" sz="1600" dirty="0"/>
          </a:p>
        </p:txBody>
      </p:sp>
      <p:sp>
        <p:nvSpPr>
          <p:cNvPr id="71" name="Text 60"/>
          <p:cNvSpPr txBox="1"/>
          <p:nvPr/>
        </p:nvSpPr>
        <p:spPr>
          <a:xfrm>
            <a:off x="6252667" y="2405786"/>
            <a:ext cx="768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6370625" y="281909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62"/>
          <p:cNvSpPr txBox="1"/>
          <p:nvPr/>
        </p:nvSpPr>
        <p:spPr>
          <a:xfrm>
            <a:off x="6643116" y="2800807"/>
            <a:ext cx="12143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좌표 (가로 위치)</a:t>
            </a:r>
            <a:endParaRPr lang="en-US" sz="1100" dirty="0"/>
          </a:p>
        </p:txBody>
      </p:sp>
      <p:sp>
        <p:nvSpPr>
          <p:cNvPr id="74" name="Text 63"/>
          <p:cNvSpPr txBox="1"/>
          <p:nvPr/>
        </p:nvSpPr>
        <p:spPr>
          <a:xfrm>
            <a:off x="6370625" y="329915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Text 64"/>
          <p:cNvSpPr txBox="1"/>
          <p:nvPr/>
        </p:nvSpPr>
        <p:spPr>
          <a:xfrm>
            <a:off x="6643116" y="3279953"/>
            <a:ext cx="12042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좌표 (세로 위치)</a:t>
            </a:r>
            <a:endParaRPr lang="en-US" sz="1100" dirty="0"/>
          </a:p>
        </p:txBody>
      </p:sp>
      <p:sp>
        <p:nvSpPr>
          <p:cNvPr id="76" name="Text 65"/>
          <p:cNvSpPr txBox="1"/>
          <p:nvPr/>
        </p:nvSpPr>
        <p:spPr>
          <a:xfrm>
            <a:off x="6370625" y="377921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Text 66"/>
          <p:cNvSpPr txBox="1"/>
          <p:nvPr/>
        </p:nvSpPr>
        <p:spPr>
          <a:xfrm>
            <a:off x="6643116" y="3760013"/>
            <a:ext cx="813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선형 속도</a:t>
            </a:r>
            <a:endParaRPr lang="en-US" sz="1100" dirty="0"/>
          </a:p>
        </p:txBody>
      </p:sp>
      <p:sp>
        <p:nvSpPr>
          <p:cNvPr id="78" name="Text 67"/>
          <p:cNvSpPr txBox="1"/>
          <p:nvPr/>
        </p:nvSpPr>
        <p:spPr>
          <a:xfrm>
            <a:off x="6370625" y="425927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79" name="Text 68"/>
          <p:cNvSpPr txBox="1"/>
          <p:nvPr/>
        </p:nvSpPr>
        <p:spPr>
          <a:xfrm>
            <a:off x="6643116" y="4240073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선형 속도</a:t>
            </a:r>
            <a:endParaRPr lang="en-US" sz="1100" dirty="0"/>
          </a:p>
        </p:txBody>
      </p:sp>
      <p:sp>
        <p:nvSpPr>
          <p:cNvPr id="80" name="Text 69"/>
          <p:cNvSpPr txBox="1"/>
          <p:nvPr/>
        </p:nvSpPr>
        <p:spPr>
          <a:xfrm>
            <a:off x="6370625" y="473842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81" name="Text 70"/>
          <p:cNvSpPr txBox="1"/>
          <p:nvPr/>
        </p:nvSpPr>
        <p:spPr>
          <a:xfrm>
            <a:off x="6643116" y="471921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착륙선 각도</a:t>
            </a:r>
            <a:endParaRPr lang="en-US" sz="1100" dirty="0"/>
          </a:p>
        </p:txBody>
      </p:sp>
      <p:sp>
        <p:nvSpPr>
          <p:cNvPr id="82" name="Text 71"/>
          <p:cNvSpPr txBox="1"/>
          <p:nvPr/>
        </p:nvSpPr>
        <p:spPr>
          <a:xfrm>
            <a:off x="6370625" y="521848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83" name="Text 72"/>
          <p:cNvSpPr txBox="1"/>
          <p:nvPr/>
        </p:nvSpPr>
        <p:spPr>
          <a:xfrm>
            <a:off x="6643116" y="5199278"/>
            <a:ext cx="509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각속도</a:t>
            </a:r>
            <a:endParaRPr lang="en-US" sz="1100" dirty="0"/>
          </a:p>
        </p:txBody>
      </p:sp>
      <p:sp>
        <p:nvSpPr>
          <p:cNvPr id="84" name="Text 73"/>
          <p:cNvSpPr txBox="1"/>
          <p:nvPr/>
        </p:nvSpPr>
        <p:spPr>
          <a:xfrm>
            <a:off x="6370625" y="569854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85" name="Text 74"/>
          <p:cNvSpPr txBox="1"/>
          <p:nvPr/>
        </p:nvSpPr>
        <p:spPr>
          <a:xfrm>
            <a:off x="6643116" y="5679338"/>
            <a:ext cx="14429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다리 접지 (Bool)</a:t>
            </a:r>
            <a:endParaRPr lang="en-US" sz="1100" dirty="0"/>
          </a:p>
        </p:txBody>
      </p:sp>
      <p:sp>
        <p:nvSpPr>
          <p:cNvPr id="86" name="Text 75"/>
          <p:cNvSpPr txBox="1"/>
          <p:nvPr/>
        </p:nvSpPr>
        <p:spPr>
          <a:xfrm>
            <a:off x="6370625" y="617860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87" name="Text 76"/>
          <p:cNvSpPr txBox="1"/>
          <p:nvPr/>
        </p:nvSpPr>
        <p:spPr>
          <a:xfrm>
            <a:off x="6643116" y="6159398"/>
            <a:ext cx="14429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다리 접지 (Bool)</a:t>
            </a:r>
            <a:endParaRPr lang="en-US" sz="1100" dirty="0"/>
          </a:p>
        </p:txBody>
      </p:sp>
      <p:sp>
        <p:nvSpPr>
          <p:cNvPr id="88" name="Text 77"/>
          <p:cNvSpPr txBox="1"/>
          <p:nvPr/>
        </p:nvSpPr>
        <p:spPr>
          <a:xfrm>
            <a:off x="6252667" y="7044538"/>
            <a:ext cx="567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Discrete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6650431" y="8148218"/>
            <a:ext cx="345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</a:t>
            </a:r>
            <a:endParaRPr lang="en-US" sz="1000" dirty="0"/>
          </a:p>
        </p:txBody>
      </p:sp>
      <p:sp>
        <p:nvSpPr>
          <p:cNvPr id="90" name="Text 79"/>
          <p:cNvSpPr txBox="1"/>
          <p:nvPr/>
        </p:nvSpPr>
        <p:spPr>
          <a:xfrm>
            <a:off x="6372454" y="8342071"/>
            <a:ext cx="897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(Do Nothing)</a:t>
            </a:r>
            <a:endParaRPr lang="en-US" sz="1000" dirty="0"/>
          </a:p>
        </p:txBody>
      </p:sp>
      <p:sp>
        <p:nvSpPr>
          <p:cNvPr id="91" name="Text 80"/>
          <p:cNvSpPr txBox="1"/>
          <p:nvPr/>
        </p:nvSpPr>
        <p:spPr>
          <a:xfrm>
            <a:off x="7815377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엔진</a:t>
            </a:r>
            <a:endParaRPr lang="en-US" sz="1000" dirty="0"/>
          </a:p>
        </p:txBody>
      </p:sp>
      <p:sp>
        <p:nvSpPr>
          <p:cNvPr id="92" name="Text 81"/>
          <p:cNvSpPr txBox="1"/>
          <p:nvPr/>
        </p:nvSpPr>
        <p:spPr>
          <a:xfrm>
            <a:off x="7689190" y="8342071"/>
            <a:ext cx="8695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Right)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9116568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엔진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9067190" y="8342071"/>
            <a:ext cx="716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Up)</a:t>
            </a:r>
            <a:endParaRPr lang="en-US" sz="1000" dirty="0"/>
          </a:p>
        </p:txBody>
      </p:sp>
      <p:sp>
        <p:nvSpPr>
          <p:cNvPr id="95" name="Text 84"/>
          <p:cNvSpPr txBox="1"/>
          <p:nvPr/>
        </p:nvSpPr>
        <p:spPr>
          <a:xfrm>
            <a:off x="10417759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엔진</a:t>
            </a:r>
            <a:endParaRPr lang="en-US" sz="1000" dirty="0"/>
          </a:p>
        </p:txBody>
      </p:sp>
      <p:sp>
        <p:nvSpPr>
          <p:cNvPr id="96" name="Text 85"/>
          <p:cNvSpPr txBox="1"/>
          <p:nvPr/>
        </p:nvSpPr>
        <p:spPr>
          <a:xfrm>
            <a:off x="10337292" y="8342071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Left)</a:t>
            </a:r>
            <a:endParaRPr lang="en-US" sz="1000" dirty="0"/>
          </a:p>
        </p:txBody>
      </p:sp>
      <p:sp>
        <p:nvSpPr>
          <p:cNvPr id="97" name="Shape 86"/>
          <p:cNvSpPr/>
          <p:nvPr/>
        </p:nvSpPr>
        <p:spPr>
          <a:xfrm>
            <a:off x="0" y="924184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98" name="Text 87"/>
          <p:cNvSpPr txBox="1"/>
          <p:nvPr/>
        </p:nvSpPr>
        <p:spPr>
          <a:xfrm>
            <a:off x="609905" y="9403690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9" name="Text 88"/>
          <p:cNvSpPr txBox="1"/>
          <p:nvPr/>
        </p:nvSpPr>
        <p:spPr>
          <a:xfrm>
            <a:off x="11160252" y="9403690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905" y="280721"/>
            <a:ext cx="4362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 시스템 (Reward System)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300362" y="395021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Optimization Target &amp; Feedback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905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064E3B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0804" y="1590142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 State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7" r="-17"/>
          <a:stretch/>
        </p:blipFill>
        <p:spPr>
          <a:xfrm>
            <a:off x="2211019" y="1818742"/>
            <a:ext cx="333756" cy="3813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045513" y="232166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성공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68703" y="2618842"/>
            <a:ext cx="10707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725473" y="3162910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패드(깃발 사이)에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751990" y="3341218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안전하게 접지 시 획득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27855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F59E0B">
              <a:alpha val="5000"/>
            </a:srgbClr>
          </a:solidFill>
          <a:ln w="25400">
            <a:solidFill>
              <a:srgbClr val="F59E0B">
                <a:alpha val="60000"/>
              </a:srgbClr>
            </a:solidFill>
            <a:prstDash val="solid"/>
          </a:ln>
          <a:effectLst>
            <a:outerShdw blurRad="190500" dist="12700" dir="16200000" algn="bl" rotWithShape="0">
              <a:srgbClr val="F59E0B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533949" y="1590142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Criteria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3" b="-13"/>
          <a:stretch/>
        </p:blipFill>
        <p:spPr>
          <a:xfrm>
            <a:off x="5881421" y="1818742"/>
            <a:ext cx="428854" cy="3813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764378" y="232166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점수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687568" y="2618842"/>
            <a:ext cx="10707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200+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5419649" y="3162910"/>
            <a:ext cx="14557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100 에피소드 평균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388559" y="3341218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점수가 이 값을 넘어야 함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46720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7F1D1D">
              <a:alpha val="2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297619" y="1590142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 State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24" b="-24"/>
          <a:stretch/>
        </p:blipFill>
        <p:spPr>
          <a:xfrm>
            <a:off x="9576511" y="1818742"/>
            <a:ext cx="476402" cy="3813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426550" y="2321662"/>
            <a:ext cx="9070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추락 / 충돌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443923" y="2618842"/>
            <a:ext cx="99486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-100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9000439" y="3162910"/>
            <a:ext cx="17318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 표면에 강하게 충돌하거나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9271102" y="3341218"/>
            <a:ext cx="11887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기체가 파괴될 경우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09905" y="4006901"/>
            <a:ext cx="5400446" cy="2066544"/>
          </a:xfrm>
          <a:prstGeom prst="roundRect">
            <a:avLst>
              <a:gd name="adj" fmla="val 2610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47649" y="4732020"/>
            <a:ext cx="609905" cy="609905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354" y="4884725"/>
            <a:ext cx="304495" cy="3044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686154" y="4481474"/>
            <a:ext cx="1145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사용 비용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1686154" y="4773168"/>
            <a:ext cx="18827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-0.3 / Frame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1686154" y="5216652"/>
            <a:ext cx="2894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엔진 점화 시마다 부여되는 연료 소비 패널티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686154" y="5394960"/>
            <a:ext cx="23701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(최소한의 연료로 효율적인 움직임 유도)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87745" y="4006901"/>
            <a:ext cx="5400446" cy="2066544"/>
          </a:xfrm>
          <a:prstGeom prst="roundRect">
            <a:avLst>
              <a:gd name="adj" fmla="val 2610"/>
            </a:avLst>
          </a:prstGeom>
          <a:solidFill>
            <a:srgbClr val="475569">
              <a:alpha val="2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425489" y="4732020"/>
            <a:ext cx="609905" cy="609905"/>
          </a:xfrm>
          <a:prstGeom prst="ellipse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8194" y="4884725"/>
            <a:ext cx="304495" cy="30449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263994" y="4504334"/>
            <a:ext cx="1773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패널티 (Shaping)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7263994" y="4785970"/>
            <a:ext cx="120243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Variable</a:t>
            </a:r>
            <a:endParaRPr lang="en-US" sz="1900" dirty="0"/>
          </a:p>
        </p:txBody>
      </p:sp>
      <p:sp>
        <p:nvSpPr>
          <p:cNvPr id="42" name="Text 35"/>
          <p:cNvSpPr txBox="1"/>
          <p:nvPr/>
        </p:nvSpPr>
        <p:spPr>
          <a:xfrm>
            <a:off x="7263994" y="5193792"/>
            <a:ext cx="2980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패드와의 거리, 이동 속도, 기체 기울기에 따라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263994" y="5372100"/>
            <a:ext cx="2446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감점 부여 (안정적 자세 유지 유도)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63" b="-863"/>
          <a:stretch/>
        </p:blipFill>
        <p:spPr>
          <a:xfrm>
            <a:off x="609905" y="347472"/>
            <a:ext cx="304495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4323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알고리즘 핵심 원리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10221" y="345643"/>
            <a:ext cx="40032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 Architecture &amp; Hyperparameters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2694" r="-2694"/>
          <a:stretch/>
        </p:blipFill>
        <p:spPr>
          <a:xfrm>
            <a:off x="609905" y="1218895"/>
            <a:ext cx="181051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6851" y="1181405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CONCEPTS (3 PILLARS)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9905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148840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2284" y="1848002"/>
            <a:ext cx="209398" cy="20939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0726" y="2272284"/>
            <a:ext cx="15069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6501" y="2574950"/>
            <a:ext cx="32406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상태 공간 처리를 위해 Q-Table 대신 신경망을 사용 Input: State(8) Output: Q-values(4)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27855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867705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1903" r="-1903"/>
          <a:stretch/>
        </p:blipFill>
        <p:spPr>
          <a:xfrm>
            <a:off x="6000293" y="1848002"/>
            <a:ext cx="190195" cy="2093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35778" y="2272284"/>
            <a:ext cx="12499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Replay Buffer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44568" y="2574950"/>
            <a:ext cx="32031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(s, a, r, s')을 저장 후 무작위로 샘플링하여 학습 데이터 간의 상관관계(Correlation) 제거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046720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585655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09099" y="1848002"/>
            <a:ext cx="209398" cy="20939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174175" y="2272284"/>
            <a:ext cx="14118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Network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257032" y="2574950"/>
            <a:ext cx="321228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목표(Target Q) 계산 시 별도의 고정된 네트워크 사용 Moving Target 문제 해결 및 발산 방지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2994" r="-2994"/>
          <a:stretch/>
        </p:blipFill>
        <p:spPr>
          <a:xfrm>
            <a:off x="609905" y="3407054"/>
            <a:ext cx="161849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47649" y="3368650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HYPERPARAMETERS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09905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01929" y="4048963"/>
            <a:ext cx="1604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RATE (LR)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01929" y="4292194"/>
            <a:ext cx="2860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가중치 업데이트 속도 및 수렴 안정성 결정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307738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499762" y="4048963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DISCOUNT FACTOR (Γ)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499762" y="4292194"/>
            <a:ext cx="3107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보상의 현재 가치 반영 비율 (근시안적 vs 원시안적)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006486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198510" y="4048963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8198510" y="4292194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그래디언트 업데이트 시 사용하는 경험 샘플 수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09905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01929" y="526145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EPSILON DECAY (Ε)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801929" y="5505602"/>
            <a:ext cx="32314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무작위 탐험(Exploration)에서 활용(Exploitation)으로의 전환 비율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307738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4499762" y="5345582"/>
            <a:ext cx="10524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BUFFER SIZE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4499762" y="5589727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학습에 재사용 가능한 최대 과거 경험 데이터 저장 용량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8006486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198510" y="5261458"/>
            <a:ext cx="1299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UPDATE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8198510" y="5505602"/>
            <a:ext cx="32122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Network를 Main Network와 동기화하는 주기 및 방식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52805"/>
            <a:ext cx="6096305" cy="5467198"/>
          </a:xfrm>
          <a:prstGeom prst="rect">
            <a:avLst/>
          </a:prstGeom>
          <a:solidFill>
            <a:srgbClr val="0F172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86407"/>
            <a:ext cx="5181905" cy="1920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918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6870" y="1368857"/>
            <a:ext cx="200254" cy="200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79322" y="1181405"/>
            <a:ext cx="16879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79322" y="1561795"/>
            <a:ext cx="18315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Stability Optimization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050085"/>
            <a:ext cx="5181905" cy="914400"/>
          </a:xfrm>
          <a:prstGeom prst="roundRect">
            <a:avLst>
              <a:gd name="adj" fmla="val 1000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2211019"/>
            <a:ext cx="123444" cy="1234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9302" y="2180844"/>
            <a:ext cx="10442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및 문제 해결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19049" y="2415845"/>
            <a:ext cx="486186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DQN의 과대 추정(Overestimation) 편향을 해결하여, Max 연산이 노이즈를 과대평가하는 문제를 방지합니다.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83357"/>
            <a:ext cx="5181905" cy="1762049"/>
          </a:xfrm>
          <a:prstGeom prst="roundRect">
            <a:avLst>
              <a:gd name="adj" fmla="val 2693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2444" r="-2444"/>
          <a:stretch/>
        </p:blipFill>
        <p:spPr>
          <a:xfrm>
            <a:off x="619049" y="3244291"/>
            <a:ext cx="161849" cy="1234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7707" y="3215030"/>
            <a:ext cx="1891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원리: 분리(DECOUPLING)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619049" y="3449117"/>
            <a:ext cx="4119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행동의 선택(Selection)과 가치의 평가(Evaluation)를 분리합니다.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9049" y="3738067"/>
            <a:ext cx="4858207" cy="352044"/>
          </a:xfrm>
          <a:prstGeom prst="roundRect">
            <a:avLst>
              <a:gd name="adj" fmla="val 44928"/>
            </a:avLst>
          </a:prstGeom>
          <a:solidFill>
            <a:srgbClr val="0F172A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783080" y="3827678"/>
            <a:ext cx="208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881835" y="3881628"/>
            <a:ext cx="325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2124151" y="3827678"/>
            <a:ext cx="6656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R + γ Q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2682850" y="3881628"/>
            <a:ext cx="325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2925166" y="3827678"/>
            <a:ext cx="8650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(S', argmax Q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684118" y="3881628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3941064" y="3827678"/>
            <a:ext cx="4846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(S', a))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9049" y="4160520"/>
            <a:ext cx="4858207" cy="552298"/>
          </a:xfrm>
          <a:prstGeom prst="roundRect">
            <a:avLst>
              <a:gd name="adj" fmla="val 18269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619049" y="4160520"/>
            <a:ext cx="28346" cy="55229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38835" y="4271162"/>
            <a:ext cx="21488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Net: 최적 행동(a*) 선택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738835" y="4454042"/>
            <a:ext cx="22924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Net: 선택된 행동 가치 평가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57200" y="4962449"/>
            <a:ext cx="5181905" cy="1114654"/>
          </a:xfrm>
          <a:prstGeom prst="roundRect">
            <a:avLst>
              <a:gd name="adj" fmla="val 673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049" y="5123383"/>
            <a:ext cx="123444" cy="1234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9302" y="5094122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효과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19049" y="5337353"/>
            <a:ext cx="22183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Q-값의 발산을 막고 학습 안정성 향상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619049" y="5604358"/>
            <a:ext cx="26087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낙관적 행동 방지로 최적 정책 수렴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096305" y="952805"/>
            <a:ext cx="6096305" cy="5467198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6553505" y="1886407"/>
            <a:ext cx="5181905" cy="1920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6553505" y="126918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t="-1328" b="-1328"/>
          <a:stretch/>
        </p:blipFill>
        <p:spPr>
          <a:xfrm>
            <a:off x="6644030" y="1368857"/>
            <a:ext cx="219456" cy="20025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074713" y="1181405"/>
            <a:ext cx="176479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</a:t>
            </a:r>
            <a:endParaRPr lang="en-US" sz="1900" dirty="0"/>
          </a:p>
        </p:txBody>
      </p:sp>
      <p:sp>
        <p:nvSpPr>
          <p:cNvPr id="41" name="Text 34"/>
          <p:cNvSpPr txBox="1"/>
          <p:nvPr/>
        </p:nvSpPr>
        <p:spPr>
          <a:xfrm>
            <a:off x="7074713" y="1561795"/>
            <a:ext cx="1316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Structural Efficiency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553505" y="2050085"/>
            <a:ext cx="5181905" cy="914400"/>
          </a:xfrm>
          <a:prstGeom prst="roundRect">
            <a:avLst>
              <a:gd name="adj" fmla="val 1000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2444" r="-2444"/>
          <a:stretch/>
        </p:blipFill>
        <p:spPr>
          <a:xfrm>
            <a:off x="6715354" y="2211019"/>
            <a:ext cx="161849" cy="12344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953098" y="2180844"/>
            <a:ext cx="7296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혁신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715354" y="2415845"/>
            <a:ext cx="489021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Q-함수를 상태 가치(Value)와 행동 이점(Advantage)의 두 스트림으로 분리합니다.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553505" y="3083357"/>
            <a:ext cx="5181905" cy="1762049"/>
          </a:xfrm>
          <a:prstGeom prst="roundRect">
            <a:avLst>
              <a:gd name="adj" fmla="val 2693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 l="-1358" r="-1358"/>
          <a:stretch/>
        </p:blipFill>
        <p:spPr>
          <a:xfrm>
            <a:off x="6715354" y="3244291"/>
            <a:ext cx="95098" cy="1234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886346" y="3215030"/>
            <a:ext cx="16824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방식 (AGGREGATION)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6715354" y="3449117"/>
            <a:ext cx="29471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스트림을 다시 합쳐 최종 Q-값을 산출합니다.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715354" y="3738067"/>
            <a:ext cx="4858207" cy="352044"/>
          </a:xfrm>
          <a:prstGeom prst="roundRect">
            <a:avLst>
              <a:gd name="adj" fmla="val 44928"/>
            </a:avLst>
          </a:prstGeom>
          <a:solidFill>
            <a:srgbClr val="0F172A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8001000" y="3827678"/>
            <a:ext cx="23893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Q(s, a) = V(s) + (A(s, a) - mean(A(s, a')))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715354" y="4160520"/>
            <a:ext cx="4858207" cy="552298"/>
          </a:xfrm>
          <a:prstGeom prst="roundRect">
            <a:avLst>
              <a:gd name="adj" fmla="val 18269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53" name="Shape 44"/>
          <p:cNvSpPr/>
          <p:nvPr/>
        </p:nvSpPr>
        <p:spPr>
          <a:xfrm>
            <a:off x="6715354" y="4160520"/>
            <a:ext cx="28346" cy="55229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6835140" y="4271162"/>
            <a:ext cx="19778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V(s): 상태 자체의 본질적 가치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6835140" y="4454042"/>
            <a:ext cx="20729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A(s, a): 각 행동의 상대적 우위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553505" y="4962449"/>
            <a:ext cx="5181905" cy="1114654"/>
          </a:xfrm>
          <a:prstGeom prst="roundRect">
            <a:avLst>
              <a:gd name="adj" fmla="val 673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15354" y="5123383"/>
            <a:ext cx="123444" cy="123444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6915607" y="5094122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효과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6715354" y="5337353"/>
            <a:ext cx="25895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차이가 미미한 상태에서 V(s) 학습 가속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6715354" y="5604358"/>
            <a:ext cx="29800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효율성(Data Efficiency) 및 수렴 속도 증가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6090818" y="1181405"/>
            <a:ext cx="9144" cy="500999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62" name="Shape 52"/>
          <p:cNvSpPr/>
          <p:nvPr/>
        </p:nvSpPr>
        <p:spPr>
          <a:xfrm>
            <a:off x="5905195" y="3495751"/>
            <a:ext cx="381305" cy="3813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002122" y="357164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200" dirty="0"/>
          </a:p>
        </p:txBody>
      </p:sp>
      <p:sp>
        <p:nvSpPr>
          <p:cNvPr id="64" name="Shape 5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5" name="Shape 55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6" name="Text 56"/>
          <p:cNvSpPr txBox="1"/>
          <p:nvPr/>
        </p:nvSpPr>
        <p:spPr>
          <a:xfrm>
            <a:off x="609905" y="243230"/>
            <a:ext cx="6505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심화 비교 (Advanced Architectures)</a:t>
            </a:r>
            <a:endParaRPr lang="en-US" sz="2400" dirty="0"/>
          </a:p>
        </p:txBody>
      </p:sp>
      <p:sp>
        <p:nvSpPr>
          <p:cNvPr id="67" name="Text 57"/>
          <p:cNvSpPr txBox="1"/>
          <p:nvPr/>
        </p:nvSpPr>
        <p:spPr>
          <a:xfrm>
            <a:off x="8122615" y="357530"/>
            <a:ext cx="3581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Overestimation Control vs. Structural Innovation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0" y="6420002"/>
            <a:ext cx="12191695" cy="3813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9" name="Shape 59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71" name="Text 61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774" b="-1774"/>
          <a:stretch/>
        </p:blipFill>
        <p:spPr>
          <a:xfrm>
            <a:off x="609905" y="347472"/>
            <a:ext cx="209398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9302" y="252374"/>
            <a:ext cx="4724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셋업 (Experimental Setup)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920886" y="345643"/>
            <a:ext cx="27934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 &amp; Evaluation Metrics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9905" y="1181405"/>
            <a:ext cx="10972800" cy="886054"/>
          </a:xfrm>
          <a:prstGeom prst="roundRect">
            <a:avLst>
              <a:gd name="adj" fmla="val 17755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1754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1754" y="1343254"/>
            <a:ext cx="38405" cy="56235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59170" r="-59170"/>
          <a:stretch/>
        </p:blipFill>
        <p:spPr>
          <a:xfrm>
            <a:off x="961949" y="1517904"/>
            <a:ext cx="342900" cy="2093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26464" y="1434694"/>
            <a:ext cx="7278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HARDWARE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426464" y="1594714"/>
            <a:ext cx="12902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MacBook Pro M1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97350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97350" y="1343254"/>
            <a:ext cx="38405" cy="562356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5502" r="-15502"/>
          <a:stretch/>
        </p:blipFill>
        <p:spPr>
          <a:xfrm>
            <a:off x="4587545" y="1517904"/>
            <a:ext cx="342900" cy="2093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52974" y="1434694"/>
            <a:ext cx="928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5052974" y="1594714"/>
            <a:ext cx="21095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Gymnasium LunarLander-v3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22946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022946" y="1343254"/>
            <a:ext cx="38405" cy="562356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31878" r="-31878"/>
          <a:stretch/>
        </p:blipFill>
        <p:spPr>
          <a:xfrm>
            <a:off x="8214055" y="1517904"/>
            <a:ext cx="342900" cy="20939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678570" y="1434694"/>
            <a:ext cx="11183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REPRODUCIBILITY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8678570" y="1594714"/>
            <a:ext cx="20802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Multiple RNG Seeds (5 runs)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5" y="2333549"/>
            <a:ext cx="171907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57707" y="2293315"/>
            <a:ext cx="16596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905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71754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7649" y="2954426"/>
            <a:ext cx="15270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97864" y="2922422"/>
            <a:ext cx="19284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리턴 (Average Return)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71754" y="3265322"/>
            <a:ext cx="33211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성능의 가장 직접적인 지표. 누적 보상의 평균값을 통해 학습 수준을 평가합니다.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317797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479646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4546397" y="2954426"/>
            <a:ext cx="171907" cy="152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906670" y="2922422"/>
            <a:ext cx="15755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 (Success Rate)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4479646" y="3265322"/>
            <a:ext cx="32634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100 에피소드 중 성공적으로 착륙한 비율을 측정하여 신뢰성을 검증합니다.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8026603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8188452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274406" y="2954426"/>
            <a:ext cx="133502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614562" y="2922422"/>
            <a:ext cx="1604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에피소드 길이 (Length)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8188452" y="3265322"/>
            <a:ext cx="32068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시점까지 걸린 스텝 수. 짧고 효율적인 경로로 착륙했는지 판단하는 기준입니다.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609905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771754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857707" y="4777740"/>
            <a:ext cx="133502" cy="15270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97864" y="4744822"/>
            <a:ext cx="12810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속도 (Speed)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771754" y="5087722"/>
            <a:ext cx="32634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점수(+200)에 도달하기까지 필요한 에피소드 수를 통해 학습 속도를 비교합니다.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4317797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4479646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56455" y="4777740"/>
            <a:ext cx="152705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4906670" y="4744822"/>
            <a:ext cx="15663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(Stability)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4479646" y="5087722"/>
            <a:ext cx="322600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곡선의 분산(Variance)과 진동 폭을 분석하여 알고리즘의 견고함을 평가합니다.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8026603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8188452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8274406" y="4777740"/>
            <a:ext cx="133502" cy="15270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614562" y="4744822"/>
            <a:ext cx="17949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 (Efficiency)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8188452" y="5087722"/>
            <a:ext cx="32826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학습 스텝 내에서 얼마나 빠르게 높은 보상을 획득하는지 측정합니다.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9" name="Text 46"/>
          <p:cNvSpPr txBox="1"/>
          <p:nvPr/>
        </p:nvSpPr>
        <p:spPr>
          <a:xfrm>
            <a:off x="609905" y="6512357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11160252" y="651235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14757" y="256946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952805"/>
            <a:ext cx="5372100" cy="2409444"/>
          </a:xfrm>
          <a:prstGeom prst="roundRect">
            <a:avLst>
              <a:gd name="adj" fmla="val 192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905" y="3514039"/>
            <a:ext cx="5372100" cy="2762402"/>
          </a:xfrm>
          <a:prstGeom prst="roundRect">
            <a:avLst>
              <a:gd name="adj" fmla="val 109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9049" y="3879799"/>
            <a:ext cx="5352898" cy="409651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619049" y="4280306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1754" y="3992270"/>
            <a:ext cx="5394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v1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9049" y="4282135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19049" y="4673498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1754" y="4389120"/>
            <a:ext cx="9966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 v1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9049" y="4678985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19049" y="5070348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1754" y="4785055"/>
            <a:ext cx="1025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 v1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9049" y="5074920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19049" y="5466283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1754" y="5181905"/>
            <a:ext cx="5394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v2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9049" y="5470855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19049" y="5862218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1754" y="5577840"/>
            <a:ext cx="9966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 v2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9049" y="5867705"/>
            <a:ext cx="5352898" cy="390449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1754" y="5973775"/>
            <a:ext cx="1025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 v2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10605" y="952805"/>
            <a:ext cx="5372100" cy="2581351"/>
          </a:xfrm>
          <a:prstGeom prst="roundRect">
            <a:avLst>
              <a:gd name="adj" fmla="val 1673"/>
            </a:avLst>
          </a:prstGeom>
          <a:solidFill>
            <a:srgbClr val="8B5CF6">
              <a:alpha val="8000"/>
            </a:srgbClr>
          </a:solidFill>
          <a:ln/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Shape 23"/>
          <p:cNvSpPr/>
          <p:nvPr/>
        </p:nvSpPr>
        <p:spPr>
          <a:xfrm>
            <a:off x="6210605" y="952805"/>
            <a:ext cx="38405" cy="2581351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4"/>
          <p:cNvSpPr/>
          <p:nvPr/>
        </p:nvSpPr>
        <p:spPr>
          <a:xfrm>
            <a:off x="6400800" y="1360627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110996"/>
            <a:ext cx="142646" cy="14264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634886" y="1074420"/>
            <a:ext cx="1851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구현 차이점 (v1 vs v2)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0" y="1705356"/>
            <a:ext cx="15142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446519" y="1484071"/>
            <a:ext cx="1241755" cy="177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909560" y="1705356"/>
            <a:ext cx="17620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955280" y="1484071"/>
            <a:ext cx="1485900" cy="14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v1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9669780" y="1705356"/>
            <a:ext cx="17620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9669780" y="1484071"/>
            <a:ext cx="1754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v2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400800" y="2159813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435171" y="1868119"/>
            <a:ext cx="1263161" cy="630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Hyperparameters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909560" y="2159813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955280" y="1762049"/>
            <a:ext cx="17602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  <a:t>LR (0.005)</a:t>
            </a:r>
            <a:b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  <a:t>Discount Factor (0.98)</a:t>
            </a:r>
            <a:endParaRPr lang="en-US" altLang="ko-KR" sz="900" b="1" dirty="0"/>
          </a:p>
        </p:txBody>
      </p:sp>
      <p:sp>
        <p:nvSpPr>
          <p:cNvPr id="40" name="Shape 36"/>
          <p:cNvSpPr/>
          <p:nvPr/>
        </p:nvSpPr>
        <p:spPr>
          <a:xfrm>
            <a:off x="9669780" y="2159813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9715500" y="1762049"/>
            <a:ext cx="1610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LR (0.001)</a:t>
            </a:r>
            <a:br>
              <a:rPr lang="en-US" sz="900" b="1" dirty="0">
                <a:solidFill>
                  <a:schemeClr val="bg1"/>
                </a:solidFill>
              </a:rPr>
            </a:br>
            <a:r>
              <a:rPr lang="en-US" altLang="ko-KR" sz="900" b="1" dirty="0">
                <a:solidFill>
                  <a:schemeClr val="bg1"/>
                </a:solidFill>
              </a:rPr>
              <a:t>Discount Factor (0.99)</a:t>
            </a:r>
            <a:endParaRPr lang="en-US" altLang="ko-KR" sz="900" dirty="0">
              <a:solidFill>
                <a:schemeClr val="bg1"/>
              </a:solidFill>
            </a:endParaRPr>
          </a:p>
        </p:txBody>
      </p:sp>
      <p:sp>
        <p:nvSpPr>
          <p:cNvPr id="42" name="Shape 38"/>
          <p:cNvSpPr/>
          <p:nvPr/>
        </p:nvSpPr>
        <p:spPr>
          <a:xfrm>
            <a:off x="6400800" y="2614270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6436667" y="2764651"/>
            <a:ext cx="1251607" cy="216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Update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7909560" y="2614270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7955279" y="2216506"/>
            <a:ext cx="1858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00" b="1" dirty="0">
                <a:solidFill>
                  <a:schemeClr val="bg1"/>
                </a:solidFill>
              </a:rPr>
              <a:t>Batch Size (32)</a:t>
            </a:r>
          </a:p>
        </p:txBody>
      </p:sp>
      <p:sp>
        <p:nvSpPr>
          <p:cNvPr id="46" name="Shape 42"/>
          <p:cNvSpPr/>
          <p:nvPr/>
        </p:nvSpPr>
        <p:spPr>
          <a:xfrm>
            <a:off x="9669780" y="2614270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9715499" y="2216506"/>
            <a:ext cx="17163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Batch Size (64)</a:t>
            </a:r>
          </a:p>
        </p:txBody>
      </p:sp>
      <p:sp>
        <p:nvSpPr>
          <p:cNvPr id="48" name="Shape 44"/>
          <p:cNvSpPr/>
          <p:nvPr/>
        </p:nvSpPr>
        <p:spPr>
          <a:xfrm>
            <a:off x="6400800" y="3069641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7909560" y="3069641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7955280" y="2671877"/>
            <a:ext cx="1805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Soft Update</a:t>
            </a:r>
          </a:p>
        </p:txBody>
      </p:sp>
      <p:sp>
        <p:nvSpPr>
          <p:cNvPr id="52" name="Shape 48"/>
          <p:cNvSpPr/>
          <p:nvPr/>
        </p:nvSpPr>
        <p:spPr>
          <a:xfrm>
            <a:off x="9669780" y="3069641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9715500" y="2671877"/>
            <a:ext cx="1610258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 Update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54" name="Shape 50"/>
          <p:cNvSpPr/>
          <p:nvPr/>
        </p:nvSpPr>
        <p:spPr>
          <a:xfrm>
            <a:off x="6210605" y="3685946"/>
            <a:ext cx="5372100" cy="2581351"/>
          </a:xfrm>
          <a:prstGeom prst="roundRect">
            <a:avLst>
              <a:gd name="adj" fmla="val 1673"/>
            </a:avLst>
          </a:prstGeom>
          <a:solidFill>
            <a:srgbClr val="F59E0B">
              <a:alpha val="8000"/>
            </a:srgbClr>
          </a:solidFill>
          <a:ln/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6210605" y="3685946"/>
            <a:ext cx="38405" cy="258135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52"/>
          <p:cNvSpPr/>
          <p:nvPr/>
        </p:nvSpPr>
        <p:spPr>
          <a:xfrm>
            <a:off x="6400800" y="4094683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3845052"/>
            <a:ext cx="142646" cy="142646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6634886" y="3808476"/>
            <a:ext cx="18708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차이점에 따른 성능 영향 분석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6400800" y="4867351"/>
            <a:ext cx="5029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6646774" y="4232758"/>
            <a:ext cx="1091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  <a:t>Dueling DQN</a:t>
            </a:r>
            <a:endParaRPr lang="en-US" sz="900" b="1" dirty="0"/>
          </a:p>
        </p:txBody>
      </p:sp>
      <p:sp>
        <p:nvSpPr>
          <p:cNvPr id="62" name="Text 56"/>
          <p:cNvSpPr txBox="1"/>
          <p:nvPr/>
        </p:nvSpPr>
        <p:spPr>
          <a:xfrm>
            <a:off x="6646774" y="4422038"/>
            <a:ext cx="487375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" altLang="ko-KR" sz="900" b="1" dirty="0">
                <a:solidFill>
                  <a:schemeClr val="bg1"/>
                </a:solidFill>
              </a:rPr>
              <a:t>$V(S)$</a:t>
            </a:r>
            <a:r>
              <a:rPr lang="ko-KR" altLang="en-US" sz="900" b="1" dirty="0">
                <a:solidFill>
                  <a:schemeClr val="bg1"/>
                </a:solidFill>
              </a:rPr>
              <a:t>와 </a:t>
            </a:r>
            <a:r>
              <a:rPr lang="en-US" altLang="ko-KR" sz="900" b="1" dirty="0">
                <a:solidFill>
                  <a:schemeClr val="bg1"/>
                </a:solidFill>
              </a:rPr>
              <a:t>$</a:t>
            </a:r>
            <a:r>
              <a:rPr lang="en" altLang="ko-KR" sz="900" b="1" dirty="0">
                <a:solidFill>
                  <a:schemeClr val="bg1"/>
                </a:solidFill>
              </a:rPr>
              <a:t>A(S, a)$</a:t>
            </a:r>
            <a:r>
              <a:rPr lang="ko-KR" altLang="en-US" sz="900" b="1" dirty="0">
                <a:solidFill>
                  <a:schemeClr val="bg1"/>
                </a:solidFill>
              </a:rPr>
              <a:t>의 구조적 분리가 학습 효율성을 극적으로 높였습니다</a:t>
            </a:r>
            <a:r>
              <a:rPr lang="en-US" altLang="ko-KR" sz="900" b="1" dirty="0">
                <a:solidFill>
                  <a:schemeClr val="bg1"/>
                </a:solidFill>
              </a:rPr>
              <a:t>.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63" name="Shape 57"/>
          <p:cNvSpPr/>
          <p:nvPr/>
        </p:nvSpPr>
        <p:spPr>
          <a:xfrm>
            <a:off x="6400800" y="5641848"/>
            <a:ext cx="5029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65" name="Text 58"/>
          <p:cNvSpPr txBox="1"/>
          <p:nvPr/>
        </p:nvSpPr>
        <p:spPr>
          <a:xfrm>
            <a:off x="6687257" y="4958791"/>
            <a:ext cx="12728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계획 </a:t>
            </a:r>
            <a:r>
              <a:rPr lang="en-US" altLang="ko-KR" sz="9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l-GR" altLang="ko-KR" sz="900" b="1" dirty="0">
                <a:solidFill>
                  <a:schemeClr val="bg1"/>
                </a:solidFill>
                <a:effectLst/>
              </a:rPr>
              <a:t>γ=</a:t>
            </a:r>
            <a:r>
              <a:rPr lang="el-GR" altLang="ko-KR" sz="900" b="1" dirty="0">
                <a:solidFill>
                  <a:schemeClr val="bg1"/>
                </a:solidFill>
              </a:rPr>
              <a:t>0.99</a:t>
            </a:r>
            <a:r>
              <a:rPr lang="en-US" altLang="ko-KR" sz="900" b="1" dirty="0">
                <a:solidFill>
                  <a:schemeClr val="bg1"/>
                </a:solidFill>
              </a:rPr>
              <a:t>)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66" name="Text 59"/>
          <p:cNvSpPr txBox="1"/>
          <p:nvPr/>
        </p:nvSpPr>
        <p:spPr>
          <a:xfrm>
            <a:off x="6699809" y="5138928"/>
            <a:ext cx="4730191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altLang="ko-KR" sz="900" b="1" dirty="0">
                <a:solidFill>
                  <a:schemeClr val="bg1"/>
                </a:solidFill>
                <a:effectLst/>
              </a:rPr>
              <a:t>γ=</a:t>
            </a:r>
            <a:r>
              <a:rPr lang="el-GR" altLang="ko-KR" sz="900" b="1" dirty="0">
                <a:solidFill>
                  <a:schemeClr val="bg1"/>
                </a:solidFill>
              </a:rPr>
              <a:t>0.99</a:t>
            </a:r>
            <a:r>
              <a:rPr lang="ko-KR" altLang="en-US" sz="900" b="1" dirty="0">
                <a:solidFill>
                  <a:schemeClr val="bg1"/>
                </a:solidFill>
              </a:rPr>
              <a:t>는 </a:t>
            </a:r>
            <a:r>
              <a:rPr lang="en" altLang="ko-KR" sz="900" b="1" dirty="0">
                <a:solidFill>
                  <a:schemeClr val="bg1"/>
                </a:solidFill>
              </a:rPr>
              <a:t>V1</a:t>
            </a:r>
            <a:r>
              <a:rPr lang="ko-KR" altLang="en-US" sz="900" b="1" dirty="0">
                <a:solidFill>
                  <a:schemeClr val="bg1"/>
                </a:solidFill>
              </a:rPr>
              <a:t>의 </a:t>
            </a:r>
            <a:r>
              <a:rPr lang="en-US" altLang="ko-KR" sz="900" b="1" dirty="0">
                <a:solidFill>
                  <a:schemeClr val="bg1"/>
                </a:solidFill>
              </a:rPr>
              <a:t>0.98</a:t>
            </a:r>
            <a:r>
              <a:rPr lang="ko-KR" altLang="en-US" sz="900" b="1" dirty="0">
                <a:solidFill>
                  <a:schemeClr val="bg1"/>
                </a:solidFill>
              </a:rPr>
              <a:t>보다 장기적인 관점을 에이전트에 부여했습니다</a:t>
            </a:r>
            <a:r>
              <a:rPr lang="en-US" altLang="ko-KR" sz="900" b="1" dirty="0">
                <a:solidFill>
                  <a:schemeClr val="bg1"/>
                </a:solidFill>
              </a:rPr>
              <a:t>. </a:t>
            </a:r>
            <a:r>
              <a:rPr lang="ko-KR" altLang="en-US" sz="900" b="1" dirty="0">
                <a:solidFill>
                  <a:schemeClr val="bg1"/>
                </a:solidFill>
              </a:rPr>
              <a:t>이 덕분에 </a:t>
            </a:r>
            <a:r>
              <a:rPr lang="en" altLang="ko-KR" sz="900" b="1" dirty="0">
                <a:solidFill>
                  <a:schemeClr val="bg1"/>
                </a:solidFill>
              </a:rPr>
              <a:t>V2</a:t>
            </a:r>
            <a:r>
              <a:rPr lang="ko-KR" altLang="en-US" sz="900" b="1" dirty="0">
                <a:solidFill>
                  <a:schemeClr val="bg1"/>
                </a:solidFill>
              </a:rPr>
              <a:t>의 모든 알고리즘</a:t>
            </a:r>
            <a:r>
              <a:rPr lang="en-US" altLang="ko-KR" sz="900" b="1" dirty="0">
                <a:solidFill>
                  <a:schemeClr val="bg1"/>
                </a:solidFill>
              </a:rPr>
              <a:t>(</a:t>
            </a:r>
            <a:r>
              <a:rPr lang="en" altLang="ko-KR" sz="900" b="1" dirty="0">
                <a:solidFill>
                  <a:schemeClr val="bg1"/>
                </a:solidFill>
              </a:rPr>
              <a:t>DQN V2 </a:t>
            </a:r>
            <a:r>
              <a:rPr lang="ko-KR" altLang="en-US" sz="900" b="1" dirty="0">
                <a:solidFill>
                  <a:schemeClr val="bg1"/>
                </a:solidFill>
              </a:rPr>
              <a:t>포함</a:t>
            </a:r>
            <a:r>
              <a:rPr lang="en-US" altLang="ko-KR" sz="900" b="1" dirty="0">
                <a:solidFill>
                  <a:schemeClr val="bg1"/>
                </a:solidFill>
              </a:rPr>
              <a:t>)</a:t>
            </a:r>
            <a:r>
              <a:rPr lang="ko-KR" altLang="en-US" sz="900" b="1" dirty="0">
                <a:solidFill>
                  <a:schemeClr val="bg1"/>
                </a:solidFill>
              </a:rPr>
              <a:t>이 </a:t>
            </a:r>
            <a:r>
              <a:rPr lang="en" altLang="ko-KR" sz="900" b="1" dirty="0">
                <a:solidFill>
                  <a:schemeClr val="bg1"/>
                </a:solidFill>
              </a:rPr>
              <a:t>V1</a:t>
            </a:r>
            <a:r>
              <a:rPr lang="ko-KR" altLang="en-US" sz="900" b="1" dirty="0">
                <a:solidFill>
                  <a:schemeClr val="bg1"/>
                </a:solidFill>
              </a:rPr>
              <a:t>의 동일 알고리즘보다 높은 최종 평균 리턴을 기록했습니다</a:t>
            </a:r>
            <a:r>
              <a:rPr lang="en-US" altLang="ko-KR" sz="900" b="1" dirty="0">
                <a:solidFill>
                  <a:schemeClr val="bg1"/>
                </a:solidFill>
              </a:rPr>
              <a:t>. </a:t>
            </a:r>
            <a:r>
              <a:rPr lang="el-GR" altLang="ko-KR" sz="900" b="1" dirty="0">
                <a:solidFill>
                  <a:schemeClr val="bg1"/>
                </a:solidFill>
                <a:effectLst/>
              </a:rPr>
              <a:t>γ</a:t>
            </a:r>
            <a:r>
              <a:rPr lang="ko-KR" altLang="en-US" sz="900" b="1" dirty="0">
                <a:solidFill>
                  <a:schemeClr val="bg1"/>
                </a:solidFill>
              </a:rPr>
              <a:t>의 차이가 </a:t>
            </a:r>
            <a:r>
              <a:rPr lang="en" altLang="ko-KR" sz="900" b="1" dirty="0" err="1">
                <a:solidFill>
                  <a:schemeClr val="bg1"/>
                </a:solidFill>
              </a:rPr>
              <a:t>LunarLander</a:t>
            </a:r>
            <a:r>
              <a:rPr lang="ko-KR" altLang="en-US" sz="900" b="1" dirty="0">
                <a:solidFill>
                  <a:schemeClr val="bg1"/>
                </a:solidFill>
              </a:rPr>
              <a:t>의 성공적인 착륙에 결정적인 영향을 미쳤습니다</a:t>
            </a:r>
            <a:r>
              <a:rPr lang="en-US" altLang="ko-KR" sz="900" b="1" dirty="0">
                <a:solidFill>
                  <a:schemeClr val="bg1"/>
                </a:solidFill>
              </a:rPr>
              <a:t>.</a:t>
            </a:r>
            <a:endParaRPr lang="en-US" sz="900" b="1" dirty="0">
              <a:solidFill>
                <a:schemeClr val="bg1"/>
              </a:solidFill>
            </a:endParaRPr>
          </a:p>
        </p:txBody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5"/>
          <a:srcRect t="-138935" b="-138935"/>
          <a:stretch/>
        </p:blipFill>
        <p:spPr>
          <a:xfrm>
            <a:off x="6446519" y="5820612"/>
            <a:ext cx="123444" cy="533095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6699809" y="5739231"/>
            <a:ext cx="17583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CBD5E1"/>
                </a:solidFill>
                <a:latin typeface="Noto Sans KR" pitchFamily="34" charset="0"/>
              </a:rPr>
              <a:t>최적 파라미터 조합 </a:t>
            </a:r>
            <a:r>
              <a:rPr lang="en-US" altLang="ko-KR" sz="900" b="1" dirty="0">
                <a:solidFill>
                  <a:srgbClr val="CBD5E1"/>
                </a:solidFill>
                <a:latin typeface="Noto Sans KR" pitchFamily="34" charset="0"/>
              </a:rPr>
              <a:t>(V2 Dueling)</a:t>
            </a:r>
            <a:endParaRPr lang="en-US" sz="900" b="1" dirty="0"/>
          </a:p>
        </p:txBody>
      </p:sp>
      <p:sp>
        <p:nvSpPr>
          <p:cNvPr id="69" name="Text 61"/>
          <p:cNvSpPr txBox="1"/>
          <p:nvPr/>
        </p:nvSpPr>
        <p:spPr>
          <a:xfrm>
            <a:off x="6699051" y="5911192"/>
            <a:ext cx="461589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" altLang="ko-KR" sz="900" b="1" dirty="0">
                <a:solidFill>
                  <a:schemeClr val="bg1"/>
                </a:solidFill>
              </a:rPr>
              <a:t>V2</a:t>
            </a:r>
            <a:r>
              <a:rPr lang="ko-KR" altLang="en-US" sz="900" b="1" dirty="0">
                <a:solidFill>
                  <a:schemeClr val="bg1"/>
                </a:solidFill>
              </a:rPr>
              <a:t>의 </a:t>
            </a:r>
            <a:r>
              <a:rPr lang="en" altLang="ko-KR" sz="900" b="1" dirty="0">
                <a:solidFill>
                  <a:schemeClr val="bg1"/>
                </a:solidFill>
              </a:rPr>
              <a:t>Dueling DQN</a:t>
            </a:r>
            <a:r>
              <a:rPr lang="ko-KR" altLang="en-US" sz="900" b="1" dirty="0">
                <a:solidFill>
                  <a:schemeClr val="bg1"/>
                </a:solidFill>
              </a:rPr>
              <a:t>은 </a:t>
            </a:r>
            <a:r>
              <a:rPr lang="el-GR" altLang="ko-KR" sz="900" b="1" dirty="0">
                <a:solidFill>
                  <a:schemeClr val="bg1"/>
                </a:solidFill>
                <a:effectLst/>
              </a:rPr>
              <a:t>γ</a:t>
            </a:r>
            <a:r>
              <a:rPr lang="el-GR" altLang="ko-KR" sz="900" b="1" dirty="0">
                <a:solidFill>
                  <a:schemeClr val="bg1"/>
                </a:solidFill>
              </a:rPr>
              <a:t>=0.99, </a:t>
            </a:r>
            <a:r>
              <a:rPr lang="en" altLang="ko-KR" sz="900" b="1" dirty="0">
                <a:solidFill>
                  <a:schemeClr val="bg1"/>
                </a:solidFill>
              </a:rPr>
              <a:t>Hard Update, </a:t>
            </a:r>
            <a:r>
              <a:rPr lang="en" altLang="ko-KR" sz="900" b="1" dirty="0">
                <a:solidFill>
                  <a:schemeClr val="bg1"/>
                </a:solidFill>
                <a:effectLst/>
              </a:rPr>
              <a:t>B</a:t>
            </a:r>
            <a:r>
              <a:rPr lang="en" altLang="ko-KR" sz="900" b="1" dirty="0">
                <a:solidFill>
                  <a:schemeClr val="bg1"/>
                </a:solidFill>
              </a:rPr>
              <a:t>=64</a:t>
            </a:r>
            <a:r>
              <a:rPr lang="ko-KR" altLang="en-US" sz="900" b="1" dirty="0">
                <a:solidFill>
                  <a:schemeClr val="bg1"/>
                </a:solidFill>
              </a:rPr>
              <a:t>라는 안정적인 조합 덕분에 </a:t>
            </a:r>
            <a:r>
              <a:rPr lang="en-US" altLang="ko-KR" sz="900" b="1" dirty="0">
                <a:solidFill>
                  <a:schemeClr val="bg1"/>
                </a:solidFill>
              </a:rPr>
              <a:t>6</a:t>
            </a:r>
            <a:r>
              <a:rPr lang="ko-KR" altLang="en-US" sz="900" b="1" dirty="0">
                <a:solidFill>
                  <a:schemeClr val="bg1"/>
                </a:solidFill>
              </a:rPr>
              <a:t>가지 테스트 중 가장 빠르게 </a:t>
            </a:r>
            <a:r>
              <a:rPr lang="en-US" altLang="ko-KR" sz="900" b="1" dirty="0">
                <a:solidFill>
                  <a:schemeClr val="bg1"/>
                </a:solidFill>
              </a:rPr>
              <a:t>200</a:t>
            </a:r>
            <a:r>
              <a:rPr lang="ko-KR" altLang="en-US" sz="900" b="1" dirty="0">
                <a:solidFill>
                  <a:schemeClr val="bg1"/>
                </a:solidFill>
              </a:rPr>
              <a:t>점 목표를 달성하고 가장 높은 성능을 보였습니다</a:t>
            </a:r>
            <a:r>
              <a:rPr lang="en-US" altLang="ko-KR" sz="900" b="1" dirty="0">
                <a:solidFill>
                  <a:schemeClr val="bg1"/>
                </a:solidFill>
              </a:rPr>
              <a:t>.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70" name="Shape 62"/>
          <p:cNvSpPr/>
          <p:nvPr/>
        </p:nvSpPr>
        <p:spPr>
          <a:xfrm>
            <a:off x="0" y="6420002"/>
            <a:ext cx="12191695" cy="3813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1" name="Shape 63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2" name="Text 64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73" name="Text 65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8</a:t>
            </a:r>
            <a:endParaRPr lang="en-US" sz="1000" dirty="0"/>
          </a:p>
        </p:txBody>
      </p:sp>
      <p:sp>
        <p:nvSpPr>
          <p:cNvPr id="74" name="Shape 66"/>
          <p:cNvSpPr/>
          <p:nvPr/>
        </p:nvSpPr>
        <p:spPr>
          <a:xfrm>
            <a:off x="619049" y="3523183"/>
            <a:ext cx="2143354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Shape 67"/>
          <p:cNvSpPr/>
          <p:nvPr/>
        </p:nvSpPr>
        <p:spPr>
          <a:xfrm>
            <a:off x="619049" y="3866083"/>
            <a:ext cx="214335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6" name="Text 68"/>
          <p:cNvSpPr txBox="1"/>
          <p:nvPr/>
        </p:nvSpPr>
        <p:spPr>
          <a:xfrm>
            <a:off x="771754" y="3599993"/>
            <a:ext cx="764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77" name="Shape 69"/>
          <p:cNvSpPr/>
          <p:nvPr/>
        </p:nvSpPr>
        <p:spPr>
          <a:xfrm>
            <a:off x="2760574" y="3523183"/>
            <a:ext cx="1609344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8" name="Shape 70"/>
          <p:cNvSpPr/>
          <p:nvPr/>
        </p:nvSpPr>
        <p:spPr>
          <a:xfrm>
            <a:off x="2760574" y="3866083"/>
            <a:ext cx="160934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9" name="Text 71"/>
          <p:cNvSpPr txBox="1"/>
          <p:nvPr/>
        </p:nvSpPr>
        <p:spPr>
          <a:xfrm>
            <a:off x="3271724" y="3608679"/>
            <a:ext cx="583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평균리턴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4366260" y="3523183"/>
            <a:ext cx="1609344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Shape 73"/>
          <p:cNvSpPr/>
          <p:nvPr/>
        </p:nvSpPr>
        <p:spPr>
          <a:xfrm>
            <a:off x="4366260" y="3866083"/>
            <a:ext cx="160934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2" name="Text 74"/>
          <p:cNvSpPr txBox="1"/>
          <p:nvPr/>
        </p:nvSpPr>
        <p:spPr>
          <a:xfrm>
            <a:off x="4990795" y="3599993"/>
            <a:ext cx="4599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</a:t>
            </a:r>
            <a:endParaRPr lang="en-US" sz="1000" dirty="0"/>
          </a:p>
        </p:txBody>
      </p:sp>
      <p:sp>
        <p:nvSpPr>
          <p:cNvPr id="83" name="Shape 7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6"/>
          <a:srcRect t="-1774" b="-1774"/>
          <a:stretch/>
        </p:blipFill>
        <p:spPr>
          <a:xfrm>
            <a:off x="609905" y="352044"/>
            <a:ext cx="209398" cy="247802"/>
          </a:xfrm>
          <a:prstGeom prst="rect">
            <a:avLst/>
          </a:prstGeom>
        </p:spPr>
      </p:pic>
      <p:sp>
        <p:nvSpPr>
          <p:cNvPr id="85" name="Text 76"/>
          <p:cNvSpPr txBox="1"/>
          <p:nvPr/>
        </p:nvSpPr>
        <p:spPr>
          <a:xfrm>
            <a:off x="819302" y="256946"/>
            <a:ext cx="5953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 및 분석 (Experimental Results)</a:t>
            </a:r>
            <a:endParaRPr lang="en-US" sz="2400" dirty="0"/>
          </a:p>
        </p:txBody>
      </p:sp>
      <p:sp>
        <p:nvSpPr>
          <p:cNvPr id="86" name="Text 77"/>
          <p:cNvSpPr txBox="1"/>
          <p:nvPr/>
        </p:nvSpPr>
        <p:spPr>
          <a:xfrm>
            <a:off x="8284464" y="350215"/>
            <a:ext cx="3431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Comparison &amp; Code Analysis</a:t>
            </a:r>
            <a:endParaRPr lang="en-US" sz="1300" dirty="0"/>
          </a:p>
        </p:txBody>
      </p:sp>
      <p:sp>
        <p:nvSpPr>
          <p:cNvPr id="90" name="Text 71">
            <a:extLst>
              <a:ext uri="{FF2B5EF4-FFF2-40B4-BE49-F238E27FC236}">
                <a16:creationId xmlns:a16="http://schemas.microsoft.com/office/drawing/2014/main" id="{F68FF093-7218-7775-66A6-D17ED051503D}"/>
              </a:ext>
            </a:extLst>
          </p:cNvPr>
          <p:cNvSpPr txBox="1"/>
          <p:nvPr/>
        </p:nvSpPr>
        <p:spPr>
          <a:xfrm>
            <a:off x="3196729" y="4018788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9.17</a:t>
            </a:r>
          </a:p>
        </p:txBody>
      </p:sp>
      <p:sp>
        <p:nvSpPr>
          <p:cNvPr id="91" name="Text 71">
            <a:extLst>
              <a:ext uri="{FF2B5EF4-FFF2-40B4-BE49-F238E27FC236}">
                <a16:creationId xmlns:a16="http://schemas.microsoft.com/office/drawing/2014/main" id="{318D45D7-E775-C103-1DBD-CBB3E0C21C6D}"/>
              </a:ext>
            </a:extLst>
          </p:cNvPr>
          <p:cNvSpPr txBox="1"/>
          <p:nvPr/>
        </p:nvSpPr>
        <p:spPr>
          <a:xfrm>
            <a:off x="3192129" y="4387062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162.23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sp>
        <p:nvSpPr>
          <p:cNvPr id="92" name="Text 71">
            <a:extLst>
              <a:ext uri="{FF2B5EF4-FFF2-40B4-BE49-F238E27FC236}">
                <a16:creationId xmlns:a16="http://schemas.microsoft.com/office/drawing/2014/main" id="{2637B35B-FA00-9B0E-208A-C438D9D27234}"/>
              </a:ext>
            </a:extLst>
          </p:cNvPr>
          <p:cNvSpPr txBox="1"/>
          <p:nvPr/>
        </p:nvSpPr>
        <p:spPr>
          <a:xfrm>
            <a:off x="3183925" y="4767452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-36.51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3" name="Text 71">
            <a:extLst>
              <a:ext uri="{FF2B5EF4-FFF2-40B4-BE49-F238E27FC236}">
                <a16:creationId xmlns:a16="http://schemas.microsoft.com/office/drawing/2014/main" id="{FBD26B0D-64B0-82D2-4C24-2FFDDE4661FD}"/>
              </a:ext>
            </a:extLst>
          </p:cNvPr>
          <p:cNvSpPr txBox="1"/>
          <p:nvPr/>
        </p:nvSpPr>
        <p:spPr>
          <a:xfrm>
            <a:off x="3196729" y="5188305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252.55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4" name="Text 71">
            <a:extLst>
              <a:ext uri="{FF2B5EF4-FFF2-40B4-BE49-F238E27FC236}">
                <a16:creationId xmlns:a16="http://schemas.microsoft.com/office/drawing/2014/main" id="{5BFB4208-A578-34C5-8E04-FD15FE38F436}"/>
              </a:ext>
            </a:extLst>
          </p:cNvPr>
          <p:cNvSpPr txBox="1"/>
          <p:nvPr/>
        </p:nvSpPr>
        <p:spPr>
          <a:xfrm>
            <a:off x="3196729" y="5569257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158.16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5" name="Text 71">
            <a:extLst>
              <a:ext uri="{FF2B5EF4-FFF2-40B4-BE49-F238E27FC236}">
                <a16:creationId xmlns:a16="http://schemas.microsoft.com/office/drawing/2014/main" id="{32C77941-E845-825A-7BF7-BD85A00FB2C2}"/>
              </a:ext>
            </a:extLst>
          </p:cNvPr>
          <p:cNvSpPr txBox="1"/>
          <p:nvPr/>
        </p:nvSpPr>
        <p:spPr>
          <a:xfrm>
            <a:off x="3196729" y="5983146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253.62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2" name="Text 71">
            <a:extLst>
              <a:ext uri="{FF2B5EF4-FFF2-40B4-BE49-F238E27FC236}">
                <a16:creationId xmlns:a16="http://schemas.microsoft.com/office/drawing/2014/main" id="{A90AE236-8EE2-6542-0930-8E2FE9ACED8C}"/>
              </a:ext>
            </a:extLst>
          </p:cNvPr>
          <p:cNvSpPr txBox="1"/>
          <p:nvPr/>
        </p:nvSpPr>
        <p:spPr>
          <a:xfrm>
            <a:off x="4864581" y="4003014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25%</a:t>
            </a:r>
          </a:p>
        </p:txBody>
      </p:sp>
      <p:sp>
        <p:nvSpPr>
          <p:cNvPr id="103" name="Text 71">
            <a:extLst>
              <a:ext uri="{FF2B5EF4-FFF2-40B4-BE49-F238E27FC236}">
                <a16:creationId xmlns:a16="http://schemas.microsoft.com/office/drawing/2014/main" id="{2BAB374C-D45E-6164-248A-0606D9C33273}"/>
              </a:ext>
            </a:extLst>
          </p:cNvPr>
          <p:cNvSpPr txBox="1"/>
          <p:nvPr/>
        </p:nvSpPr>
        <p:spPr>
          <a:xfrm>
            <a:off x="4859981" y="4371288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00" dirty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104" name="Text 71">
            <a:extLst>
              <a:ext uri="{FF2B5EF4-FFF2-40B4-BE49-F238E27FC236}">
                <a16:creationId xmlns:a16="http://schemas.microsoft.com/office/drawing/2014/main" id="{B9AD8B4D-173B-ADD7-A3CE-8380C9818F9B}"/>
              </a:ext>
            </a:extLst>
          </p:cNvPr>
          <p:cNvSpPr txBox="1"/>
          <p:nvPr/>
        </p:nvSpPr>
        <p:spPr>
          <a:xfrm>
            <a:off x="4851777" y="4751678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5" name="Text 71">
            <a:extLst>
              <a:ext uri="{FF2B5EF4-FFF2-40B4-BE49-F238E27FC236}">
                <a16:creationId xmlns:a16="http://schemas.microsoft.com/office/drawing/2014/main" id="{5C4AD9A0-C564-8C0B-2F2B-1D72CDCF122A}"/>
              </a:ext>
            </a:extLst>
          </p:cNvPr>
          <p:cNvSpPr txBox="1"/>
          <p:nvPr/>
        </p:nvSpPr>
        <p:spPr>
          <a:xfrm>
            <a:off x="4864581" y="5172531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6" name="Text 71">
            <a:extLst>
              <a:ext uri="{FF2B5EF4-FFF2-40B4-BE49-F238E27FC236}">
                <a16:creationId xmlns:a16="http://schemas.microsoft.com/office/drawing/2014/main" id="{2CD513B5-1E17-9183-2116-B44F721D108F}"/>
              </a:ext>
            </a:extLst>
          </p:cNvPr>
          <p:cNvSpPr txBox="1"/>
          <p:nvPr/>
        </p:nvSpPr>
        <p:spPr>
          <a:xfrm>
            <a:off x="4864581" y="5553483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60^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7" name="Text 71">
            <a:extLst>
              <a:ext uri="{FF2B5EF4-FFF2-40B4-BE49-F238E27FC236}">
                <a16:creationId xmlns:a16="http://schemas.microsoft.com/office/drawing/2014/main" id="{BDF43C6A-D4BE-84B2-16D9-06BBDB93AEF0}"/>
              </a:ext>
            </a:extLst>
          </p:cNvPr>
          <p:cNvSpPr txBox="1"/>
          <p:nvPr/>
        </p:nvSpPr>
        <p:spPr>
          <a:xfrm>
            <a:off x="4864581" y="5967372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85%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E82AF01D-83B5-F24E-1FF6-3ED1FF79C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399" y="959754"/>
            <a:ext cx="4000197" cy="2400118"/>
          </a:xfrm>
          <a:prstGeom prst="rect">
            <a:avLst/>
          </a:prstGeom>
        </p:spPr>
      </p:pic>
      <p:pic>
        <p:nvPicPr>
          <p:cNvPr id="109" name="Image 5" descr="preencoded.png">
            <a:extLst>
              <a:ext uri="{FF2B5EF4-FFF2-40B4-BE49-F238E27FC236}">
                <a16:creationId xmlns:a16="http://schemas.microsoft.com/office/drawing/2014/main" id="{634F4879-F142-3FC4-7305-C61D8B8140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38935" b="-138935"/>
          <a:stretch/>
        </p:blipFill>
        <p:spPr>
          <a:xfrm>
            <a:off x="6430061" y="4174692"/>
            <a:ext cx="123444" cy="533095"/>
          </a:xfrm>
          <a:prstGeom prst="rect">
            <a:avLst/>
          </a:prstGeom>
        </p:spPr>
      </p:pic>
      <p:pic>
        <p:nvPicPr>
          <p:cNvPr id="110" name="Image 5" descr="preencoded.png">
            <a:extLst>
              <a:ext uri="{FF2B5EF4-FFF2-40B4-BE49-F238E27FC236}">
                <a16:creationId xmlns:a16="http://schemas.microsoft.com/office/drawing/2014/main" id="{5F6B504E-1C0E-43E2-DEDD-C45920CACC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38935" b="-138935"/>
          <a:stretch/>
        </p:blipFill>
        <p:spPr>
          <a:xfrm>
            <a:off x="6449946" y="5044059"/>
            <a:ext cx="123444" cy="533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905" y="243230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토의 및 결론 (Conclusion &amp; Discussion)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261958" y="345643"/>
            <a:ext cx="2450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&amp; Future Directions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5" y="1181405"/>
            <a:ext cx="5820156" cy="5009998"/>
          </a:xfrm>
          <a:prstGeom prst="roundRect">
            <a:avLst>
              <a:gd name="adj" fmla="val 55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328" b="-1328"/>
          <a:stretch/>
        </p:blipFill>
        <p:spPr>
          <a:xfrm>
            <a:off x="847649" y="1467612"/>
            <a:ext cx="219456" cy="20025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1419149"/>
            <a:ext cx="238749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(Key Findings)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7649" y="186903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507" b="-507"/>
          <a:stretch/>
        </p:blipFill>
        <p:spPr>
          <a:xfrm>
            <a:off x="923544" y="1968703"/>
            <a:ext cx="247802" cy="200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99946" y="1869034"/>
            <a:ext cx="2549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DQN의 안정성 (Stability)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399946" y="2129638"/>
            <a:ext cx="48280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과대 추정(Overestimation) 문제를 효과적으로 완화하여, 학습 후반부의 Q-값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\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방지하고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안정적인 정책 수렴을 유도했습니다.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47649" y="267553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964" b="-964"/>
          <a:stretch/>
        </p:blipFill>
        <p:spPr>
          <a:xfrm>
            <a:off x="961949" y="2775204"/>
            <a:ext cx="171907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99946" y="2675534"/>
            <a:ext cx="2691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DQN의 효율성 (Efficiency)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99946" y="2936138"/>
            <a:ext cx="48280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가치(V)와 행동 이점(A)을 분리 학습하여, 행동 간 차이가 미미한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상황에서도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특징을 빠르게 학습했습니다.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47649" y="5259629"/>
            <a:ext cx="5343754" cy="694944"/>
          </a:xfrm>
          <a:prstGeom prst="roundRect">
            <a:avLst>
              <a:gd name="adj" fmla="val 2307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39542" y="5391302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RECOMMENDATION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329538" y="5593385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FD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"Dueling Double DQN (D3QN)이 LunarLander 태스크에 최적"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33642" y="1181405"/>
            <a:ext cx="4858207" cy="2428646"/>
          </a:xfrm>
          <a:prstGeom prst="roundRect">
            <a:avLst>
              <a:gd name="adj" fmla="val 1890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6733642" y="1181405"/>
            <a:ext cx="38405" cy="24286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6999732" y="2008937"/>
            <a:ext cx="4362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9732" y="1747418"/>
            <a:ext cx="15270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243877" y="1703527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및 보완점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999732" y="2136038"/>
            <a:ext cx="44659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Replay Buffer 사용으로 중요 경험이 희석될 가능성 존재 (PER 도입 필요)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999732" y="2611526"/>
            <a:ext cx="42181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 Update 파라미터(τ) 및 Epsilon Decay 스케줄의 정교한 튜닝 부족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99732" y="2894990"/>
            <a:ext cx="3579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유의성 확보를 위한 더 많은 Random Seed 실험 필요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733642" y="3762756"/>
            <a:ext cx="4858207" cy="2428646"/>
          </a:xfrm>
          <a:prstGeom prst="roundRect">
            <a:avLst>
              <a:gd name="adj" fmla="val 1890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6733642" y="3762756"/>
            <a:ext cx="38405" cy="242864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27"/>
          <p:cNvSpPr/>
          <p:nvPr/>
        </p:nvSpPr>
        <p:spPr>
          <a:xfrm>
            <a:off x="6999732" y="4590288"/>
            <a:ext cx="4362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999732" y="4328770"/>
            <a:ext cx="171907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263079" y="4284878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연구 방향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999732" y="4717390"/>
            <a:ext cx="3665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등을 활용한 하이퍼파라미터 자동 탐색(AutoML) 적용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999732" y="5000854"/>
            <a:ext cx="3903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Prioritized Experience Replay (PER)와 D3QN의 결합 모델 검증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999732" y="5284318"/>
            <a:ext cx="44659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 행동 공간(Continuous Action Space)을 위한 PPO, SAC 등과의 비교 연구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09905" y="6512357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1160252" y="651235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1390</Words>
  <Application>Microsoft Macintosh PowerPoint</Application>
  <PresentationFormat>와이드스크린</PresentationFormat>
  <Paragraphs>248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Arial</vt:lpstr>
      <vt:lpstr>Courier New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민지호() - 클라우드업무지원</cp:lastModifiedBy>
  <cp:revision>6</cp:revision>
  <dcterms:created xsi:type="dcterms:W3CDTF">2025-11-29T13:22:15Z</dcterms:created>
  <dcterms:modified xsi:type="dcterms:W3CDTF">2025-11-29T13:45:00Z</dcterms:modified>
</cp:coreProperties>
</file>